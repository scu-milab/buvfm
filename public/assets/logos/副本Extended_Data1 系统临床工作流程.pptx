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23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 showSpecialPlsOnTitleSld="0">
  <p:sldMasterIdLst>
    <p:sldMasterId id="2147483648" r:id="rId1"/>
  </p:sldMasterIdLst>
  <p:notesMasterIdLst>
    <p:notesMasterId r:id="rId5"/>
  </p:notesMasterIdLst>
  <p:handoutMasterIdLst>
    <p:handoutMasterId r:id="rId7"/>
  </p:handoutMasterIdLst>
  <p:sldIdLst>
    <p:sldId id="735" r:id="rId3"/>
    <p:sldId id="733" r:id="rId4"/>
    <p:sldId id="734" r:id="rId6"/>
  </p:sldIdLst>
  <p:sldSz cx="8639810" cy="7559675"/>
  <p:notesSz cx="6797675" cy="992632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955567-98DD-4FFA-9F23-DBCAC8159A79}">
          <p14:sldIdLst>
            <p14:sldId id="735"/>
            <p14:sldId id="733"/>
            <p14:sldId id="734"/>
          </p14:sldIdLst>
        </p14:section>
      </p14:sectionLst>
    </p:ext>
    <p:ext uri="{EFAFB233-063F-42B5-8137-9DF3F51BA10A}">
      <p15:sldGuideLst xmlns:p15="http://schemas.microsoft.com/office/powerpoint/2012/main">
        <p15:guide id="2" pos="5359" userDrawn="1">
          <p15:clr>
            <a:srgbClr val="A4A3A4"/>
          </p15:clr>
        </p15:guide>
        <p15:guide id="3" pos="2126" userDrawn="1">
          <p15:clr>
            <a:srgbClr val="A4A3A4"/>
          </p15:clr>
        </p15:guide>
        <p15:guide id="4" pos="3616" userDrawn="1">
          <p15:clr>
            <a:srgbClr val="A4A3A4"/>
          </p15:clr>
        </p15:guide>
        <p15:guide id="5" orient="horz" pos="4084" userDrawn="1">
          <p15:clr>
            <a:srgbClr val="A4A3A4"/>
          </p15:clr>
        </p15:guide>
        <p15:guide id="6" orient="horz" pos="3320" userDrawn="1">
          <p15:clr>
            <a:srgbClr val="A4A3A4"/>
          </p15:clr>
        </p15:guide>
        <p15:guide id="7" orient="horz" pos="3666" userDrawn="1">
          <p15:clr>
            <a:srgbClr val="A4A3A4"/>
          </p15:clr>
        </p15:guide>
        <p15:guide id="8" pos="5136" userDrawn="1">
          <p15:clr>
            <a:srgbClr val="A4A3A4"/>
          </p15:clr>
        </p15:guide>
        <p15:guide id="9" pos="4873" userDrawn="1">
          <p15:clr>
            <a:srgbClr val="A4A3A4"/>
          </p15:clr>
        </p15:guide>
        <p15:guide id="10" pos="3248" userDrawn="1">
          <p15:clr>
            <a:srgbClr val="A4A3A4"/>
          </p15:clr>
        </p15:guide>
        <p15:guide id="11" pos="5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882215"/>
    <a:srgbClr val="0000FF"/>
    <a:srgbClr val="D9D9D9"/>
    <a:srgbClr val="D1D6AD"/>
    <a:srgbClr val="A6A6A6"/>
    <a:srgbClr val="E8EAD6"/>
    <a:srgbClr val="BF210E"/>
    <a:srgbClr val="FFFFFF"/>
    <a:srgbClr val="B92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7" autoAdjust="0"/>
    <p:restoredTop sz="92497" autoAdjust="0"/>
  </p:normalViewPr>
  <p:slideViewPr>
    <p:cSldViewPr showGuides="1">
      <p:cViewPr>
        <p:scale>
          <a:sx n="70" d="100"/>
          <a:sy n="70" d="100"/>
        </p:scale>
        <p:origin x="1110" y="468"/>
      </p:cViewPr>
      <p:guideLst>
        <p:guide pos="5359"/>
        <p:guide pos="2126"/>
        <p:guide pos="3616"/>
        <p:guide orient="horz" pos="4084"/>
        <p:guide orient="horz" pos="3320"/>
        <p:guide orient="horz" pos="3666"/>
        <p:guide pos="5136"/>
        <p:guide pos="4873"/>
        <p:guide pos="3248"/>
        <p:guide pos="56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3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AA94D-FECB-4B56-8B14-9737DBF39BE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28585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967C6-8A98-411C-A11B-D93867CEEF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D94A5E9C-FFF8-4ED8-AC08-EBB527EBDFEB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71588" y="744538"/>
            <a:ext cx="4254499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28585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3D4EAFF7-FF63-4984-B3A5-1C7EA42040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71588" y="744538"/>
            <a:ext cx="4254499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EAFF7-FF63-4984-B3A5-1C7EA4204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71588" y="744538"/>
            <a:ext cx="4254499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EAFF7-FF63-4984-B3A5-1C7EA4204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83" y="1237411"/>
            <a:ext cx="7344935" cy="2632342"/>
          </a:xfrm>
        </p:spPr>
        <p:txBody>
          <a:bodyPr anchor="b"/>
          <a:lstStyle>
            <a:lvl1pPr algn="ctr">
              <a:defRPr sz="5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138" y="3971267"/>
            <a:ext cx="6480826" cy="1825487"/>
          </a:xfrm>
        </p:spPr>
        <p:txBody>
          <a:bodyPr/>
          <a:lstStyle>
            <a:lvl1pPr marL="0" indent="0" algn="ctr">
              <a:buNone/>
              <a:defRPr sz="2270"/>
            </a:lvl1pPr>
            <a:lvl2pPr marL="432435" indent="0" algn="ctr">
              <a:buNone/>
              <a:defRPr sz="1895"/>
            </a:lvl2pPr>
            <a:lvl3pPr marL="863600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8470" indent="0" algn="ctr">
              <a:buNone/>
              <a:defRPr sz="1510"/>
            </a:lvl5pPr>
            <a:lvl6pPr marL="2160270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3870" indent="0" algn="ctr">
              <a:buNone/>
              <a:defRPr sz="1510"/>
            </a:lvl8pPr>
            <a:lvl9pPr marL="3456305" indent="0" algn="ctr">
              <a:buNone/>
              <a:defRPr sz="15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76" y="1884997"/>
            <a:ext cx="7452948" cy="3145158"/>
          </a:xfrm>
        </p:spPr>
        <p:txBody>
          <a:bodyPr anchor="b"/>
          <a:lstStyle>
            <a:lvl1pPr>
              <a:defRPr sz="5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76" y="5059910"/>
            <a:ext cx="7452948" cy="1653964"/>
          </a:xfrm>
        </p:spPr>
        <p:txBody>
          <a:bodyPr/>
          <a:lstStyle>
            <a:lvl1pPr marL="0" indent="0">
              <a:buNone/>
              <a:defRPr sz="2270">
                <a:solidFill>
                  <a:schemeClr val="tx1"/>
                </a:solidFill>
              </a:defRPr>
            </a:lvl1pPr>
            <a:lvl2pPr marL="432435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2pPr>
            <a:lvl3pPr marL="86360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2960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4pPr>
            <a:lvl5pPr marL="17284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6pPr>
            <a:lvl7pPr marL="25920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7pPr>
            <a:lvl8pPr marL="30238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8pPr>
            <a:lvl9pPr marL="345630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76" y="2012762"/>
            <a:ext cx="3672467" cy="47973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557" y="2012762"/>
            <a:ext cx="3672467" cy="47973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01" y="402554"/>
            <a:ext cx="7452948" cy="14614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201" y="1853491"/>
            <a:ext cx="3655590" cy="908368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2435" indent="0">
              <a:buNone/>
              <a:defRPr sz="1895" b="1"/>
            </a:lvl2pPr>
            <a:lvl3pPr marL="863600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201" y="2761859"/>
            <a:ext cx="3655590" cy="40622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557" y="1853491"/>
            <a:ext cx="3673593" cy="908368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2435" indent="0">
              <a:buNone/>
              <a:defRPr sz="1895" b="1"/>
            </a:lvl2pPr>
            <a:lvl3pPr marL="863600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557" y="2761859"/>
            <a:ext cx="3673593" cy="40622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01" y="504065"/>
            <a:ext cx="2786979" cy="1764230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593" y="1088643"/>
            <a:ext cx="4374557" cy="5373198"/>
          </a:xfrm>
        </p:spPr>
        <p:txBody>
          <a:bodyPr/>
          <a:lstStyle>
            <a:lvl1pPr>
              <a:defRPr sz="3025"/>
            </a:lvl1pPr>
            <a:lvl2pPr>
              <a:defRPr sz="2645"/>
            </a:lvl2pPr>
            <a:lvl3pPr>
              <a:defRPr sz="2270"/>
            </a:lvl3pPr>
            <a:lvl4pPr>
              <a:defRPr sz="1895"/>
            </a:lvl4pPr>
            <a:lvl5pPr>
              <a:defRPr sz="1895"/>
            </a:lvl5pPr>
            <a:lvl6pPr>
              <a:defRPr sz="1895"/>
            </a:lvl6pPr>
            <a:lvl7pPr>
              <a:defRPr sz="1895"/>
            </a:lvl7pPr>
            <a:lvl8pPr>
              <a:defRPr sz="1895"/>
            </a:lvl8pPr>
            <a:lvl9pPr>
              <a:defRPr sz="18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201" y="2268294"/>
            <a:ext cx="2786979" cy="4202297"/>
          </a:xfrm>
        </p:spPr>
        <p:txBody>
          <a:bodyPr/>
          <a:lstStyle>
            <a:lvl1pPr marL="0" indent="0">
              <a:buNone/>
              <a:defRPr sz="1510"/>
            </a:lvl1pPr>
            <a:lvl2pPr marL="432435" indent="0">
              <a:buNone/>
              <a:defRPr sz="1325"/>
            </a:lvl2pPr>
            <a:lvl3pPr marL="863600" indent="0">
              <a:buNone/>
              <a:defRPr sz="1135"/>
            </a:lvl3pPr>
            <a:lvl4pPr marL="1296035" indent="0">
              <a:buNone/>
              <a:defRPr sz="945"/>
            </a:lvl4pPr>
            <a:lvl5pPr marL="1728470" indent="0">
              <a:buNone/>
              <a:defRPr sz="945"/>
            </a:lvl5pPr>
            <a:lvl6pPr marL="2160270" indent="0">
              <a:buNone/>
              <a:defRPr sz="945"/>
            </a:lvl6pPr>
            <a:lvl7pPr marL="2592070" indent="0">
              <a:buNone/>
              <a:defRPr sz="945"/>
            </a:lvl7pPr>
            <a:lvl8pPr marL="3023870" indent="0">
              <a:buNone/>
              <a:defRPr sz="945"/>
            </a:lvl8pPr>
            <a:lvl9pPr marL="3456305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01" y="504065"/>
            <a:ext cx="2786979" cy="1764230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593" y="1088643"/>
            <a:ext cx="4374557" cy="5373198"/>
          </a:xfrm>
        </p:spPr>
        <p:txBody>
          <a:bodyPr anchor="t"/>
          <a:lstStyle>
            <a:lvl1pPr marL="0" indent="0">
              <a:buNone/>
              <a:defRPr sz="3025"/>
            </a:lvl1pPr>
            <a:lvl2pPr marL="432435" indent="0">
              <a:buNone/>
              <a:defRPr sz="2645"/>
            </a:lvl2pPr>
            <a:lvl3pPr marL="863600" indent="0">
              <a:buNone/>
              <a:defRPr sz="2270"/>
            </a:lvl3pPr>
            <a:lvl4pPr marL="1296035" indent="0">
              <a:buNone/>
              <a:defRPr sz="1895"/>
            </a:lvl4pPr>
            <a:lvl5pPr marL="1728470" indent="0">
              <a:buNone/>
              <a:defRPr sz="1895"/>
            </a:lvl5pPr>
            <a:lvl6pPr marL="2160270" indent="0">
              <a:buNone/>
              <a:defRPr sz="1895"/>
            </a:lvl6pPr>
            <a:lvl7pPr marL="2592070" indent="0">
              <a:buNone/>
              <a:defRPr sz="1895"/>
            </a:lvl7pPr>
            <a:lvl8pPr marL="3023870" indent="0">
              <a:buNone/>
              <a:defRPr sz="1895"/>
            </a:lvl8pPr>
            <a:lvl9pPr marL="3456305" indent="0">
              <a:buNone/>
              <a:defRPr sz="189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201" y="2268294"/>
            <a:ext cx="2786979" cy="4202297"/>
          </a:xfrm>
        </p:spPr>
        <p:txBody>
          <a:bodyPr/>
          <a:lstStyle>
            <a:lvl1pPr marL="0" indent="0">
              <a:buNone/>
              <a:defRPr sz="1510"/>
            </a:lvl1pPr>
            <a:lvl2pPr marL="432435" indent="0">
              <a:buNone/>
              <a:defRPr sz="1325"/>
            </a:lvl2pPr>
            <a:lvl3pPr marL="863600" indent="0">
              <a:buNone/>
              <a:defRPr sz="1135"/>
            </a:lvl3pPr>
            <a:lvl4pPr marL="1296035" indent="0">
              <a:buNone/>
              <a:defRPr sz="945"/>
            </a:lvl4pPr>
            <a:lvl5pPr marL="1728470" indent="0">
              <a:buNone/>
              <a:defRPr sz="945"/>
            </a:lvl5pPr>
            <a:lvl6pPr marL="2160270" indent="0">
              <a:buNone/>
              <a:defRPr sz="945"/>
            </a:lvl6pPr>
            <a:lvl7pPr marL="2592070" indent="0">
              <a:buNone/>
              <a:defRPr sz="945"/>
            </a:lvl7pPr>
            <a:lvl8pPr marL="3023870" indent="0">
              <a:buNone/>
              <a:defRPr sz="945"/>
            </a:lvl8pPr>
            <a:lvl9pPr marL="3456305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788" y="402553"/>
            <a:ext cx="1863238" cy="640758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76" y="402553"/>
            <a:ext cx="5481698" cy="640758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76" y="402554"/>
            <a:ext cx="7452948" cy="146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76" y="2012762"/>
            <a:ext cx="7452948" cy="4797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76" y="7007912"/>
            <a:ext cx="1944248" cy="402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365" y="7007912"/>
            <a:ext cx="2916371" cy="402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776" y="7007912"/>
            <a:ext cx="1944248" cy="402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A9A43-33EB-433F-8DDA-D75E78E778A3}" type="slidenum">
              <a:rPr lang="zh-CN" altLang="zh-CN" smtClean="0"/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863600" rtl="0" eaLnBrk="1" latinLnBrk="0" hangingPunct="1">
        <a:lnSpc>
          <a:spcPct val="90000"/>
        </a:lnSpc>
        <a:spcBef>
          <a:spcPct val="0"/>
        </a:spcBef>
        <a:buNone/>
        <a:defRPr sz="4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3600" rtl="0" eaLnBrk="1" latinLnBrk="0" hangingPunct="1">
        <a:lnSpc>
          <a:spcPct val="90000"/>
        </a:lnSpc>
        <a:spcBef>
          <a:spcPts val="945"/>
        </a:spcBef>
        <a:buFont typeface="Arial" panose="020B060402020209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2570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3600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24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360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.png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5" name="组合 64"/>
          <p:cNvGrpSpPr/>
          <p:nvPr/>
        </p:nvGrpSpPr>
        <p:grpSpPr>
          <a:xfrm>
            <a:off x="52260" y="106030"/>
            <a:ext cx="8559346" cy="7248679"/>
            <a:chOff x="82" y="127"/>
            <a:chExt cx="13479" cy="11415"/>
          </a:xfrm>
        </p:grpSpPr>
        <p:sp>
          <p:nvSpPr>
            <p:cNvPr id="27" name="圆角矩形 26"/>
            <p:cNvSpPr/>
            <p:nvPr/>
          </p:nvSpPr>
          <p:spPr>
            <a:xfrm>
              <a:off x="95" y="127"/>
              <a:ext cx="5625" cy="11415"/>
            </a:xfrm>
            <a:prstGeom prst="roundRect">
              <a:avLst>
                <a:gd name="adj" fmla="val 2120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0" rtlCol="0" anchor="t" anchorCtr="0"/>
            <a:p>
              <a:pPr algn="ctr"/>
              <a:endParaRPr lang="en-US" altLang="zh-CN" sz="4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9" y="5130"/>
              <a:ext cx="5396" cy="2896"/>
            </a:xfrm>
            <a:prstGeom prst="rect">
              <a:avLst/>
            </a:prstGeom>
          </p:spPr>
        </p:pic>
        <p:grpSp>
          <p:nvGrpSpPr>
            <p:cNvPr id="36" name="组合 35"/>
            <p:cNvGrpSpPr/>
            <p:nvPr/>
          </p:nvGrpSpPr>
          <p:grpSpPr>
            <a:xfrm>
              <a:off x="168" y="1036"/>
              <a:ext cx="5479" cy="1869"/>
              <a:chOff x="405" y="1075"/>
              <a:chExt cx="5394" cy="2044"/>
            </a:xfrm>
          </p:grpSpPr>
          <p:pic>
            <p:nvPicPr>
              <p:cNvPr id="53" name="图片 52"/>
              <p:cNvPicPr>
                <a:picLocks noChangeAspect="1"/>
              </p:cNvPicPr>
              <p:nvPr/>
            </p:nvPicPr>
            <p:blipFill>
              <a:blip r:embed="rId2"/>
              <a:srcRect l="10861" r="13158" b="59852"/>
              <a:stretch>
                <a:fillRect/>
              </a:stretch>
            </p:blipFill>
            <p:spPr>
              <a:xfrm>
                <a:off x="907" y="1075"/>
                <a:ext cx="1588" cy="1134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rcRect t="48183" b="19721"/>
              <a:stretch>
                <a:fillRect/>
              </a:stretch>
            </p:blipFill>
            <p:spPr>
              <a:xfrm>
                <a:off x="3289" y="1106"/>
                <a:ext cx="2470" cy="1072"/>
              </a:xfrm>
              <a:prstGeom prst="rect">
                <a:avLst/>
              </a:prstGeom>
            </p:spPr>
          </p:pic>
          <p:sp>
            <p:nvSpPr>
              <p:cNvPr id="54" name="文本框 53"/>
              <p:cNvSpPr txBox="1"/>
              <p:nvPr/>
            </p:nvSpPr>
            <p:spPr>
              <a:xfrm>
                <a:off x="405" y="2114"/>
                <a:ext cx="2673" cy="1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</a:rPr>
                  <a:t>Rural Health Clinic</a:t>
                </a:r>
                <a:endParaRPr lang="en-US" altLang="zh-CN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3126" y="2114"/>
                <a:ext cx="2673" cy="1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</a:rPr>
                  <a:t>Community</a:t>
                </a:r>
                <a:endParaRPr lang="en-US" altLang="zh-CN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endParaRPr>
              </a:p>
              <a:p>
                <a:pPr algn="ctr"/>
                <a:r>
                  <a:rPr lang="en-US" altLang="zh-CN" sz="16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</a:rPr>
                  <a:t>Screening Event</a:t>
                </a:r>
                <a:endParaRPr lang="en-US" altLang="zh-CN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16" name="下箭头 15"/>
            <p:cNvSpPr/>
            <p:nvPr/>
          </p:nvSpPr>
          <p:spPr>
            <a:xfrm>
              <a:off x="2747" y="4504"/>
              <a:ext cx="320" cy="484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82" y="2776"/>
              <a:ext cx="5650" cy="1807"/>
              <a:chOff x="122" y="3134"/>
              <a:chExt cx="5650" cy="1807"/>
            </a:xfrm>
          </p:grpSpPr>
          <p:pic>
            <p:nvPicPr>
              <p:cNvPr id="68" name="图片 6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1" y="3285"/>
                <a:ext cx="1035" cy="1125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122" y="4410"/>
                <a:ext cx="565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Arial" panose="020B0604020202090204" pitchFamily="34" charset="0"/>
                    <a:cs typeface="Arial" panose="020B0604020202090204" pitchFamily="34" charset="0"/>
                  </a:rPr>
                  <a:t>Technician with </a:t>
                </a:r>
                <a:r>
                  <a:rPr lang="en-US" altLang="zh-CN" sz="16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</a:rPr>
                  <a:t>Portable Device</a:t>
                </a:r>
                <a:endParaRPr lang="zh-CN" altLang="en-US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2267" y="3134"/>
                <a:ext cx="1390" cy="1365"/>
                <a:chOff x="2381" y="2924"/>
                <a:chExt cx="1602" cy="1602"/>
              </a:xfrm>
              <a:scene3d>
                <a:camera prst="orthographicFront">
                  <a:rot lat="0" lon="0" rev="0"/>
                </a:camera>
                <a:lightRig rig="threePt" dir="t"/>
              </a:scene3d>
            </p:grpSpPr>
            <p:pic>
              <p:nvPicPr>
                <p:cNvPr id="20" name="图片 19" descr="MacBook Pro 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81" y="2924"/>
                  <a:ext cx="1603" cy="1603"/>
                </a:xfrm>
                <a:prstGeom prst="rect">
                  <a:avLst/>
                </a:prstGeom>
              </p:spPr>
            </p:pic>
            <p:sp>
              <p:nvSpPr>
                <p:cNvPr id="23" name="任意多边形 22"/>
                <p:cNvSpPr/>
                <p:nvPr/>
              </p:nvSpPr>
              <p:spPr>
                <a:xfrm>
                  <a:off x="2473" y="2992"/>
                  <a:ext cx="837" cy="1116"/>
                </a:xfrm>
                <a:custGeom>
                  <a:avLst/>
                  <a:gdLst>
                    <a:gd name="connisteX0" fmla="*/ 0 w 531495"/>
                    <a:gd name="connsiteY0" fmla="*/ 312420 h 708660"/>
                    <a:gd name="connisteX1" fmla="*/ 528320 w 531495"/>
                    <a:gd name="connsiteY1" fmla="*/ 0 h 708660"/>
                    <a:gd name="connisteX2" fmla="*/ 531495 w 531495"/>
                    <a:gd name="connsiteY2" fmla="*/ 396240 h 708660"/>
                    <a:gd name="connisteX3" fmla="*/ 0 w 531495"/>
                    <a:gd name="connsiteY3" fmla="*/ 708660 h 708660"/>
                    <a:gd name="connisteX4" fmla="*/ 0 w 531495"/>
                    <a:gd name="connsiteY4" fmla="*/ 312420 h 708660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531495" h="708660">
                      <a:moveTo>
                        <a:pt x="0" y="312420"/>
                      </a:moveTo>
                      <a:lnTo>
                        <a:pt x="528320" y="0"/>
                      </a:lnTo>
                      <a:lnTo>
                        <a:pt x="531495" y="396240"/>
                      </a:lnTo>
                      <a:lnTo>
                        <a:pt x="0" y="708660"/>
                      </a:lnTo>
                      <a:lnTo>
                        <a:pt x="0" y="312420"/>
                      </a:lnTo>
                      <a:close/>
                    </a:path>
                  </a:pathLst>
                </a:cu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25" name="图片 24" descr="ultrasound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l="28883" t="16972" r="23517" b="35428"/>
              <a:stretch>
                <a:fillRect/>
              </a:stretch>
            </p:blipFill>
            <p:spPr>
              <a:xfrm>
                <a:off x="4153" y="3416"/>
                <a:ext cx="668" cy="668"/>
              </a:xfrm>
              <a:prstGeom prst="rect">
                <a:avLst/>
              </a:prstGeom>
            </p:spPr>
          </p:pic>
          <p:cxnSp>
            <p:nvCxnSpPr>
              <p:cNvPr id="26" name="曲线连接符 25"/>
              <p:cNvCxnSpPr/>
              <p:nvPr/>
            </p:nvCxnSpPr>
            <p:spPr>
              <a:xfrm rot="10800000">
                <a:off x="3287" y="3867"/>
                <a:ext cx="908" cy="115"/>
              </a:xfrm>
              <a:prstGeom prst="curvedConnector3">
                <a:avLst>
                  <a:gd name="adj1" fmla="val 4989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29"/>
            <p:cNvSpPr txBox="1"/>
            <p:nvPr/>
          </p:nvSpPr>
          <p:spPr>
            <a:xfrm>
              <a:off x="5738" y="2397"/>
              <a:ext cx="2413" cy="1257"/>
            </a:xfrm>
            <a:prstGeom prst="rect">
              <a:avLst/>
            </a:prstGeom>
          </p:spPr>
          <p:txBody>
            <a:bodyPr anchor="ctr" anchorCtr="0">
              <a:noAutofit/>
            </a:bodyPr>
            <a:p>
              <a:pPr marL="0" indent="0"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 Regular" panose="020B0604020202090204" charset="0"/>
                  <a:cs typeface="Arial Regular" panose="020B0604020202090204" charset="0"/>
                </a:rPr>
                <a:t>Quality Control </a:t>
              </a:r>
              <a:endParaRPr lang="en-US" altLang="zh-CN" sz="160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endParaRPr>
            </a:p>
            <a:p>
              <a:pPr marL="0" indent="0"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 Regular" panose="020B0604020202090204" charset="0"/>
                  <a:cs typeface="Arial Regular" panose="020B0604020202090204" charset="0"/>
                </a:rPr>
                <a:t>Instructions</a:t>
              </a:r>
              <a:endParaRPr lang="en-US" altLang="zh-CN" sz="1600">
                <a:solidFill>
                  <a:srgbClr val="000000"/>
                </a:solidFill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110" y="10509"/>
              <a:ext cx="2986" cy="854"/>
              <a:chOff x="572" y="12198"/>
              <a:chExt cx="2986" cy="854"/>
            </a:xfrm>
          </p:grpSpPr>
          <p:pic>
            <p:nvPicPr>
              <p:cNvPr id="13" name="图片 12" descr="病例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72" y="12198"/>
                <a:ext cx="854" cy="854"/>
              </a:xfrm>
              <a:prstGeom prst="rect">
                <a:avLst/>
              </a:prstGeom>
            </p:spPr>
          </p:pic>
          <p:sp>
            <p:nvSpPr>
              <p:cNvPr id="14" name="文本框 13"/>
              <p:cNvSpPr txBox="1"/>
              <p:nvPr/>
            </p:nvSpPr>
            <p:spPr>
              <a:xfrm>
                <a:off x="1474" y="12214"/>
                <a:ext cx="2084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latin typeface="Arial Regular" panose="020B0604020202090204" charset="0"/>
                    <a:cs typeface="Arial Regular" panose="020B0604020202090204" charset="0"/>
                  </a:rPr>
                  <a:t>Report </a:t>
                </a:r>
                <a:endParaRPr lang="en-US" altLang="zh-CN" sz="1400">
                  <a:latin typeface="Arial Regular" panose="020B0604020202090204" charset="0"/>
                  <a:cs typeface="Arial Regular" panose="020B0604020202090204" charset="0"/>
                </a:endParaRPr>
              </a:p>
              <a:p>
                <a:r>
                  <a:rPr lang="en-US" altLang="zh-CN" sz="1400">
                    <a:latin typeface="Arial Regular" panose="020B0604020202090204" charset="0"/>
                    <a:cs typeface="Arial Regular" panose="020B0604020202090204" charset="0"/>
                  </a:rPr>
                  <a:t>Generation</a:t>
                </a:r>
                <a:endParaRPr lang="en-US" altLang="zh-CN" sz="1400">
                  <a:latin typeface="Arial Regular" panose="020B0604020202090204" charset="0"/>
                  <a:cs typeface="Arial Regular" panose="020B0604020202090204" charset="0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23" y="9371"/>
              <a:ext cx="2925" cy="829"/>
              <a:chOff x="585" y="11060"/>
              <a:chExt cx="2925" cy="829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1426" y="11064"/>
                <a:ext cx="2084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latin typeface="Arial Regular" panose="020B0604020202090204" charset="0"/>
                    <a:cs typeface="Arial Regular" panose="020B0604020202090204" charset="0"/>
                  </a:rPr>
                  <a:t>Online Expert </a:t>
                </a:r>
                <a:endParaRPr lang="en-US" altLang="zh-CN" sz="1400">
                  <a:latin typeface="Arial Regular" panose="020B0604020202090204" charset="0"/>
                  <a:cs typeface="Arial Regular" panose="020B0604020202090204" charset="0"/>
                </a:endParaRPr>
              </a:p>
              <a:p>
                <a:r>
                  <a:rPr lang="en-US" altLang="zh-CN" sz="1400">
                    <a:latin typeface="Arial Regular" panose="020B0604020202090204" charset="0"/>
                    <a:cs typeface="Arial Regular" panose="020B0604020202090204" charset="0"/>
                  </a:rPr>
                  <a:t>Review</a:t>
                </a:r>
                <a:endParaRPr lang="en-US" altLang="zh-CN" sz="1400">
                  <a:latin typeface="Arial Regular" panose="020B0604020202090204" charset="0"/>
                  <a:cs typeface="Arial Regular" panose="020B0604020202090204" charset="0"/>
                </a:endParaRPr>
              </a:p>
            </p:txBody>
          </p:sp>
          <p:pic>
            <p:nvPicPr>
              <p:cNvPr id="34" name="图片 33" descr="在线医生"/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85" y="11060"/>
                <a:ext cx="829" cy="829"/>
              </a:xfrm>
              <a:prstGeom prst="rect">
                <a:avLst/>
              </a:prstGeom>
            </p:spPr>
          </p:pic>
        </p:grpSp>
        <p:sp>
          <p:nvSpPr>
            <p:cNvPr id="43" name="文本框 42"/>
            <p:cNvSpPr txBox="1"/>
            <p:nvPr/>
          </p:nvSpPr>
          <p:spPr>
            <a:xfrm>
              <a:off x="209" y="7984"/>
              <a:ext cx="5396" cy="59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rPr>
                <a:t>Device-Side Display</a:t>
              </a:r>
              <a:endParaRPr lang="en-US" altLang="zh-CN" sz="16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8057" y="127"/>
              <a:ext cx="5504" cy="11415"/>
            </a:xfrm>
            <a:prstGeom prst="roundRect">
              <a:avLst>
                <a:gd name="adj" fmla="val 2120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0" rtlCol="0" anchor="t" anchorCtr="0"/>
            <a:p>
              <a:pPr algn="ctr"/>
              <a:endParaRPr lang="en-US" altLang="zh-CN" sz="4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endParaRPr>
            </a:p>
          </p:txBody>
        </p:sp>
        <p:pic>
          <p:nvPicPr>
            <p:cNvPr id="89" name="图片 8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407" y="2339"/>
              <a:ext cx="2805" cy="179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057" y="5160"/>
              <a:ext cx="5504" cy="2049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8426" y="4013"/>
              <a:ext cx="476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  <a:sym typeface="+mn-ea"/>
                </a:rPr>
                <a:t>Scanning </a:t>
              </a:r>
              <a:r>
                <a:rPr lang="en-US" altLang="zh-CN" dirty="0">
                  <a:sym typeface="+mn-ea"/>
                </a:rPr>
                <a:t>Quality Control</a:t>
              </a:r>
              <a:endParaRPr lang="en-US" altLang="zh-CN" dirty="0"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57" y="7268"/>
              <a:ext cx="5504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  <a:sym typeface="+mn-ea"/>
                </a:rPr>
                <a:t>Device-Side Models</a:t>
              </a:r>
              <a:endParaRPr lang="en-US" altLang="zh-CN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  <a:sym typeface="+mn-ea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68" y="8346"/>
              <a:ext cx="5283" cy="2397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8057" y="10841"/>
              <a:ext cx="5504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  <a:sym typeface="+mn-ea"/>
                </a:rPr>
                <a:t>Cloud-Side Models</a:t>
              </a:r>
              <a:endParaRPr lang="en-US" altLang="zh-CN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  <a:sym typeface="+mn-ea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 rot="0">
              <a:off x="8890" y="199"/>
              <a:ext cx="3839" cy="1456"/>
              <a:chOff x="7437" y="233"/>
              <a:chExt cx="3839" cy="145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9025" y="233"/>
                <a:ext cx="2251" cy="1456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l"/>
                <a:r>
                  <a:rPr lang="en-US" altLang="zh-CN" sz="28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  <a:sym typeface="+mn-ea"/>
                  </a:rPr>
                  <a:t>AIBS </a:t>
                </a:r>
                <a:endParaRPr lang="en-US" altLang="zh-CN" sz="28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  <a:sym typeface="+mn-ea"/>
                </a:endParaRPr>
              </a:p>
              <a:p>
                <a:pPr algn="l"/>
                <a:r>
                  <a:rPr lang="en-US" altLang="zh-CN" sz="28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  <a:sym typeface="+mn-ea"/>
                  </a:rPr>
                  <a:t>System</a:t>
                </a:r>
                <a:endParaRPr lang="en-US" altLang="zh-CN" sz="28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  <a:sym typeface="+mn-ea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37" y="233"/>
                <a:ext cx="1390" cy="1428"/>
              </a:xfrm>
              <a:prstGeom prst="rect">
                <a:avLst/>
              </a:prstGeom>
            </p:spPr>
          </p:pic>
        </p:grpSp>
        <p:grpSp>
          <p:nvGrpSpPr>
            <p:cNvPr id="50" name="组合 49"/>
            <p:cNvGrpSpPr/>
            <p:nvPr/>
          </p:nvGrpSpPr>
          <p:grpSpPr>
            <a:xfrm>
              <a:off x="98" y="206"/>
              <a:ext cx="5618" cy="701"/>
              <a:chOff x="98" y="206"/>
              <a:chExt cx="5618" cy="701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98" y="206"/>
                <a:ext cx="5619" cy="587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ctr"/>
                <a:r>
                  <a:rPr lang="en-US" altLang="zh-CN" sz="2800" dirty="0">
                    <a:latin typeface="Arial" panose="020B0604020202090204" pitchFamily="34" charset="0"/>
                    <a:ea typeface="HarmonyOS Sans SC" panose="00000800000000000000" pitchFamily="2" charset="-122"/>
                    <a:cs typeface="Arial" panose="020B0604020202090204" pitchFamily="34" charset="0"/>
                    <a:sym typeface="+mn-ea"/>
                  </a:rPr>
                  <a:t>Clinical Workflow</a:t>
                </a:r>
                <a:endParaRPr lang="en-US" altLang="zh-CN" sz="2800" b="1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  <a:sym typeface="+mn-ea"/>
                </a:endParaRPr>
              </a:p>
            </p:txBody>
          </p:sp>
          <p:sp>
            <p:nvSpPr>
              <p:cNvPr id="47" name="加号 46"/>
              <p:cNvSpPr/>
              <p:nvPr/>
            </p:nvSpPr>
            <p:spPr>
              <a:xfrm>
                <a:off x="113" y="319"/>
                <a:ext cx="597" cy="588"/>
              </a:xfrm>
              <a:prstGeom prst="mathPlus">
                <a:avLst/>
              </a:prstGeom>
              <a:solidFill>
                <a:srgbClr val="FF0000">
                  <a:alpha val="36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5765" y="5802"/>
              <a:ext cx="2314" cy="9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600" dirty="0">
                  <a:latin typeface="Arial" panose="020B0604020202090204" pitchFamily="34" charset="0"/>
                  <a:cs typeface="Arial" panose="020B0604020202090204" pitchFamily="34" charset="0"/>
                </a:rPr>
                <a:t>Preliminary </a:t>
              </a:r>
              <a:endParaRPr lang="en-US" altLang="zh-CN" sz="1600" dirty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/>
              <a:r>
                <a:rPr lang="en-US" altLang="zh-CN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rPr>
                <a:t>AI Results</a:t>
              </a:r>
              <a:endParaRPr lang="en-US" altLang="zh-CN" sz="16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51" name="下箭头 50"/>
            <p:cNvSpPr/>
            <p:nvPr/>
          </p:nvSpPr>
          <p:spPr>
            <a:xfrm>
              <a:off x="2747" y="8518"/>
              <a:ext cx="320" cy="484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下箭头 56"/>
            <p:cNvSpPr/>
            <p:nvPr/>
          </p:nvSpPr>
          <p:spPr>
            <a:xfrm rot="5400000">
              <a:off x="6747" y="5742"/>
              <a:ext cx="279" cy="1980"/>
            </a:xfrm>
            <a:prstGeom prst="down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下箭头 57"/>
            <p:cNvSpPr/>
            <p:nvPr/>
          </p:nvSpPr>
          <p:spPr>
            <a:xfrm rot="5400000">
              <a:off x="6716" y="2524"/>
              <a:ext cx="279" cy="1980"/>
            </a:xfrm>
            <a:prstGeom prst="down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670" y="9254"/>
              <a:ext cx="2314" cy="9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600" dirty="0">
                  <a:latin typeface="Arial" panose="020B0604020202090204" pitchFamily="34" charset="0"/>
                  <a:cs typeface="Arial" panose="020B0604020202090204" pitchFamily="34" charset="0"/>
                </a:rPr>
                <a:t>Final</a:t>
              </a:r>
              <a:endParaRPr lang="en-US" altLang="zh-CN" sz="1600" dirty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/>
              <a:r>
                <a:rPr lang="en-US" altLang="zh-CN" sz="1600" dirty="0">
                  <a:latin typeface="Arial" panose="020B0604020202090204" pitchFamily="34" charset="0"/>
                  <a:ea typeface="HarmonyOS Sans SC" panose="00000800000000000000" pitchFamily="2" charset="-122"/>
                  <a:cs typeface="Arial" panose="020B0604020202090204" pitchFamily="34" charset="0"/>
                </a:rPr>
                <a:t>AI Results</a:t>
              </a:r>
              <a:endParaRPr lang="en-US" altLang="zh-CN" sz="16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61" name="下箭头 60"/>
            <p:cNvSpPr/>
            <p:nvPr/>
          </p:nvSpPr>
          <p:spPr>
            <a:xfrm rot="5400000">
              <a:off x="6652" y="9194"/>
              <a:ext cx="279" cy="1980"/>
            </a:xfrm>
            <a:prstGeom prst="down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980" y="9494"/>
              <a:ext cx="2617" cy="17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8" descr="http://www.psych.cas.cn/images/top02.jpg"/>
          <p:cNvSpPr>
            <a:spLocks noChangeAspect="1" noChangeArrowheads="1"/>
          </p:cNvSpPr>
          <p:nvPr/>
        </p:nvSpPr>
        <p:spPr bwMode="auto">
          <a:xfrm>
            <a:off x="-1293098" y="-834340"/>
            <a:ext cx="388975" cy="38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5444" tIns="57722" rIns="115444" bIns="57722" numCol="1" anchor="t" anchorCtr="0" compatLnSpc="1"/>
          <a:lstStyle/>
          <a:p>
            <a:endParaRPr lang="zh-CN" altLang="en-US"/>
          </a:p>
        </p:txBody>
      </p:sp>
      <p:sp>
        <p:nvSpPr>
          <p:cNvPr id="10" name="AutoShape 2" descr="http://img1.imgtn.bdimg.com/it/u=4242730328,1068781185&amp;fm=26&amp;gp=0.jpg"/>
          <p:cNvSpPr>
            <a:spLocks noChangeAspect="1" noChangeArrowheads="1"/>
          </p:cNvSpPr>
          <p:nvPr/>
        </p:nvSpPr>
        <p:spPr bwMode="auto">
          <a:xfrm>
            <a:off x="-1100689" y="-641931"/>
            <a:ext cx="388975" cy="38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5444" tIns="57722" rIns="115444" bIns="57722" numCol="1" anchor="t" anchorCtr="0" compatLnSpc="1"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87913" y="3528357"/>
            <a:ext cx="1326909" cy="136292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307" y="-189110"/>
            <a:ext cx="741467" cy="81928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94121" y="619805"/>
            <a:ext cx="21680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cs typeface="Arial" panose="020B0604020202090204" pitchFamily="34" charset="0"/>
              </a:rPr>
              <a:t>Technician &amp; </a:t>
            </a:r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Portable Ultrasound Device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957" y="1172170"/>
            <a:ext cx="326889" cy="454802"/>
          </a:xfrm>
          <a:prstGeom prst="rect">
            <a:avLst/>
          </a:prstGeom>
        </p:spPr>
      </p:pic>
      <p:sp>
        <p:nvSpPr>
          <p:cNvPr id="21" name="左大括号 20"/>
          <p:cNvSpPr/>
          <p:nvPr/>
        </p:nvSpPr>
        <p:spPr>
          <a:xfrm>
            <a:off x="1418502" y="-257112"/>
            <a:ext cx="199903" cy="6094649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 rot="16200000">
            <a:off x="192767" y="2561696"/>
            <a:ext cx="20449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Clinical Workflow</a:t>
            </a:r>
            <a:endParaRPr lang="zh-CN" altLang="en-US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4536646" y="-93213"/>
            <a:ext cx="4154815" cy="141830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199" y="2652319"/>
            <a:ext cx="1476612" cy="1009812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957" y="3494134"/>
            <a:ext cx="326889" cy="45480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-4391333" y="1836264"/>
            <a:ext cx="4281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1. Technician uses portable ultrasound with QC module.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2. Point-of-care screening in rural settings.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3. Ultrasound data is processed by edge computing.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4. Cloud foundation models further analyze suspicious breast lesion videos.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5. System evaluates final outcomes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967" y="4068794"/>
            <a:ext cx="1795006" cy="1337097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0729" y="4269140"/>
            <a:ext cx="1049934" cy="628773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4665142" y="5364590"/>
            <a:ext cx="16745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Edge</a:t>
            </a:r>
            <a:endParaRPr lang="en-US" altLang="zh-CN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Computing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5472" y="1662352"/>
            <a:ext cx="1326908" cy="179392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655829" y="2326368"/>
            <a:ext cx="166619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Rural Health Clinic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645068" y="3015367"/>
            <a:ext cx="16661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Community</a:t>
            </a:r>
            <a:endParaRPr lang="en-US" altLang="zh-CN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Screening Event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flipH="1">
            <a:off x="4878940" y="1267059"/>
            <a:ext cx="808061" cy="491071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4587479" y="2296521"/>
            <a:ext cx="695267" cy="0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4619137" y="1013585"/>
            <a:ext cx="92339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Lesion detection</a:t>
            </a:r>
            <a:endParaRPr lang="zh-CN" altLang="en-US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994261">
            <a:off x="5711113" y="3839371"/>
            <a:ext cx="326889" cy="454802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4366635" y="1775006"/>
            <a:ext cx="113695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Risk Stratification</a:t>
            </a:r>
            <a:endParaRPr lang="zh-CN" altLang="en-US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4841" y="-323559"/>
            <a:ext cx="1610168" cy="1028275"/>
          </a:xfrm>
          <a:prstGeom prst="rect">
            <a:avLst/>
          </a:prstGeom>
        </p:spPr>
      </p:pic>
      <p:cxnSp>
        <p:nvCxnSpPr>
          <p:cNvPr id="91" name="直接箭头连接符 90"/>
          <p:cNvCxnSpPr/>
          <p:nvPr/>
        </p:nvCxnSpPr>
        <p:spPr>
          <a:xfrm flipV="1">
            <a:off x="4675478" y="-323900"/>
            <a:ext cx="0" cy="506992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4663639" y="-192544"/>
            <a:ext cx="93078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Scanning</a:t>
            </a:r>
            <a:endParaRPr lang="en-US" altLang="zh-CN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QC</a:t>
            </a:r>
            <a:endParaRPr lang="zh-CN" altLang="en-US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 flipH="1">
            <a:off x="2833112" y="1476244"/>
            <a:ext cx="83100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2913777" y="1162556"/>
            <a:ext cx="779193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Quality </a:t>
            </a:r>
            <a:endParaRPr lang="en-US" altLang="zh-CN" sz="1400" dirty="0"/>
          </a:p>
        </p:txBody>
      </p:sp>
      <p:sp>
        <p:nvSpPr>
          <p:cNvPr id="100" name="文本框 99"/>
          <p:cNvSpPr txBox="1"/>
          <p:nvPr/>
        </p:nvSpPr>
        <p:spPr>
          <a:xfrm>
            <a:off x="2681360" y="1476403"/>
            <a:ext cx="1155089" cy="344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1400" dirty="0"/>
              <a:t>Assurance</a:t>
            </a:r>
            <a:endParaRPr lang="zh-CN" altLang="en-US" sz="1400" dirty="0"/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718047" y="2159032"/>
            <a:ext cx="326889" cy="454802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1751" y="1060550"/>
            <a:ext cx="1299479" cy="108706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914" y="4044397"/>
            <a:ext cx="1545623" cy="1151279"/>
          </a:xfrm>
          <a:prstGeom prst="rect">
            <a:avLst/>
          </a:prstGeom>
        </p:spPr>
      </p:pic>
      <p:pic>
        <p:nvPicPr>
          <p:cNvPr id="5" name="图片 4" descr="icon-test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70721" y="-192412"/>
            <a:ext cx="932200" cy="932200"/>
          </a:xfrm>
          <a:prstGeom prst="rect">
            <a:avLst/>
          </a:prstGeom>
        </p:spPr>
      </p:pic>
      <p:pic>
        <p:nvPicPr>
          <p:cNvPr id="6" name="图片 5" descr="病例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85991" y="6118351"/>
            <a:ext cx="628663" cy="6286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8" descr="http://www.psych.cas.cn/images/top02.jpg"/>
          <p:cNvSpPr>
            <a:spLocks noChangeAspect="1" noChangeArrowheads="1"/>
          </p:cNvSpPr>
          <p:nvPr/>
        </p:nvSpPr>
        <p:spPr bwMode="auto">
          <a:xfrm>
            <a:off x="-1293098" y="-834340"/>
            <a:ext cx="388975" cy="38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5444" tIns="57722" rIns="115444" bIns="57722" numCol="1" anchor="t" anchorCtr="0" compatLnSpc="1"/>
          <a:lstStyle/>
          <a:p>
            <a:endParaRPr lang="zh-CN" altLang="en-US"/>
          </a:p>
        </p:txBody>
      </p:sp>
      <p:sp>
        <p:nvSpPr>
          <p:cNvPr id="10" name="AutoShape 2" descr="http://img1.imgtn.bdimg.com/it/u=4242730328,1068781185&amp;fm=26&amp;gp=0.jpg"/>
          <p:cNvSpPr>
            <a:spLocks noChangeAspect="1" noChangeArrowheads="1"/>
          </p:cNvSpPr>
          <p:nvPr/>
        </p:nvSpPr>
        <p:spPr bwMode="auto">
          <a:xfrm>
            <a:off x="-1100689" y="-641931"/>
            <a:ext cx="388975" cy="38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5444" tIns="57722" rIns="115444" bIns="57722" numCol="1" anchor="t" anchorCtr="0" compatLnSpc="1"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2323" y="2595522"/>
            <a:ext cx="1326909" cy="136292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61" y="-102113"/>
            <a:ext cx="741467" cy="81928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94121" y="619805"/>
            <a:ext cx="21680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cs typeface="Arial" panose="020B0604020202090204" pitchFamily="34" charset="0"/>
              </a:rPr>
              <a:t>Technician &amp; </a:t>
            </a:r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Portable Ultrasound Device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957" y="1172170"/>
            <a:ext cx="326889" cy="454802"/>
          </a:xfrm>
          <a:prstGeom prst="rect">
            <a:avLst/>
          </a:prstGeom>
        </p:spPr>
      </p:pic>
      <p:sp>
        <p:nvSpPr>
          <p:cNvPr id="21" name="左大括号 20"/>
          <p:cNvSpPr/>
          <p:nvPr/>
        </p:nvSpPr>
        <p:spPr>
          <a:xfrm>
            <a:off x="1418502" y="-257112"/>
            <a:ext cx="199903" cy="6094649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 rot="16200000">
            <a:off x="192767" y="2561696"/>
            <a:ext cx="20449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Clinical Workflow</a:t>
            </a:r>
            <a:endParaRPr lang="zh-CN" altLang="en-US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06102" y="-403735"/>
            <a:ext cx="4154815" cy="141830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245" y="5486515"/>
            <a:ext cx="3997062" cy="2522457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199" y="2652319"/>
            <a:ext cx="1476612" cy="1009812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957" y="3494134"/>
            <a:ext cx="326889" cy="45480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365992" y="-286586"/>
            <a:ext cx="4281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1. Technician uses portable ultrasound with QC module.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2. Point-of-care screening in rural settings.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3. Ultrasound data is processed by edge computing.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4. Cloud foundation models further analyze suspicious breast lesion videos.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1200" b="1" dirty="0">
                <a:latin typeface="Arial" panose="020B0604020202090204" pitchFamily="34" charset="0"/>
                <a:cs typeface="Arial" panose="020B0604020202090204" pitchFamily="34" charset="0"/>
              </a:rPr>
              <a:t>5. System evaluates final outcomes</a:t>
            </a:r>
            <a:endParaRPr lang="en-US" altLang="zh-CN" sz="12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767" y="3988875"/>
            <a:ext cx="1012799" cy="754433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9898" y="4126580"/>
            <a:ext cx="1795006" cy="1337097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659" y="4326926"/>
            <a:ext cx="1049934" cy="628773"/>
          </a:xfrm>
          <a:prstGeom prst="rect">
            <a:avLst/>
          </a:prstGeom>
        </p:spPr>
      </p:pic>
      <p:cxnSp>
        <p:nvCxnSpPr>
          <p:cNvPr id="43" name="直接连接符 42"/>
          <p:cNvCxnSpPr/>
          <p:nvPr/>
        </p:nvCxnSpPr>
        <p:spPr>
          <a:xfrm flipH="1">
            <a:off x="2537245" y="4857742"/>
            <a:ext cx="1423196" cy="6287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5214812" y="4857742"/>
            <a:ext cx="1319495" cy="6287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852304" y="4683270"/>
            <a:ext cx="12517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Edge</a:t>
            </a:r>
            <a:endParaRPr lang="en-US" altLang="zh-CN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Computing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5472" y="1662352"/>
            <a:ext cx="1326908" cy="179392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655829" y="2326368"/>
            <a:ext cx="166619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Rural Health Clinic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645068" y="3015367"/>
            <a:ext cx="16661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Community</a:t>
            </a:r>
            <a:endParaRPr lang="en-US" altLang="zh-CN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  <a:p>
            <a:pPr algn="ctr"/>
            <a:r>
              <a:rPr lang="en-US" altLang="zh-CN" sz="1400" dirty="0">
                <a:latin typeface="Arial" panose="020B0604020202090204" pitchFamily="34" charset="0"/>
                <a:ea typeface="HarmonyOS Sans SC" panose="00000800000000000000" pitchFamily="2" charset="-122"/>
                <a:cs typeface="Arial" panose="020B0604020202090204" pitchFamily="34" charset="0"/>
              </a:rPr>
              <a:t>Screening Event</a:t>
            </a:r>
            <a:endParaRPr lang="zh-CN" altLang="en-US" sz="1400" dirty="0">
              <a:latin typeface="Arial" panose="020B0604020202090204" pitchFamily="34" charset="0"/>
              <a:ea typeface="HarmonyOS Sans SC" panose="00000800000000000000" pitchFamily="2" charset="-122"/>
              <a:cs typeface="Arial" panose="020B0604020202090204" pitchFamily="34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flipH="1">
            <a:off x="3074866" y="3676300"/>
            <a:ext cx="808061" cy="491071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5286629" y="3276982"/>
            <a:ext cx="695267" cy="0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8276" y="-93452"/>
            <a:ext cx="657331" cy="71449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2815064" y="3422826"/>
            <a:ext cx="92339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Lesion detection</a:t>
            </a:r>
            <a:endParaRPr lang="zh-CN" altLang="en-US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994261">
            <a:off x="5711113" y="3839371"/>
            <a:ext cx="326889" cy="454802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5065785" y="2755467"/>
            <a:ext cx="113695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Risk Stratification</a:t>
            </a:r>
            <a:endParaRPr lang="zh-CN" altLang="en-US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6322" y="1189043"/>
            <a:ext cx="1610168" cy="1028275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99337">
            <a:off x="3267887" y="4378576"/>
            <a:ext cx="326889" cy="454802"/>
          </a:xfrm>
          <a:prstGeom prst="rect">
            <a:avLst/>
          </a:prstGeom>
        </p:spPr>
      </p:pic>
      <p:cxnSp>
        <p:nvCxnSpPr>
          <p:cNvPr id="91" name="直接箭头连接符 90"/>
          <p:cNvCxnSpPr/>
          <p:nvPr/>
        </p:nvCxnSpPr>
        <p:spPr>
          <a:xfrm flipV="1">
            <a:off x="4535775" y="2052320"/>
            <a:ext cx="0" cy="506992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4523936" y="2183676"/>
            <a:ext cx="93078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Scanning</a:t>
            </a:r>
            <a:endParaRPr lang="en-US" altLang="zh-CN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QC</a:t>
            </a:r>
            <a:endParaRPr lang="zh-CN" altLang="en-US" sz="1200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 flipH="1">
            <a:off x="2833112" y="1476244"/>
            <a:ext cx="83100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2913777" y="1162556"/>
            <a:ext cx="779193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Quality </a:t>
            </a:r>
            <a:endParaRPr lang="en-US" altLang="zh-CN" sz="1400" dirty="0"/>
          </a:p>
        </p:txBody>
      </p:sp>
      <p:sp>
        <p:nvSpPr>
          <p:cNvPr id="100" name="文本框 99"/>
          <p:cNvSpPr txBox="1"/>
          <p:nvPr/>
        </p:nvSpPr>
        <p:spPr>
          <a:xfrm>
            <a:off x="2681360" y="1476403"/>
            <a:ext cx="1155089" cy="344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1400" dirty="0"/>
              <a:t>Assurance</a:t>
            </a:r>
            <a:endParaRPr lang="zh-CN" altLang="en-US" sz="1400" dirty="0"/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718047" y="2159032"/>
            <a:ext cx="326889" cy="454802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1751" y="1060550"/>
            <a:ext cx="1299479" cy="10870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U0ODYxOGVhODViMGZhM2NiYmVmMjhiNTQyMzU4ZTc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1146</Words>
  <Application>WPS 演示</Application>
  <PresentationFormat>自定义</PresentationFormat>
  <Paragraphs>93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HarmonyOS Sans SC</vt:lpstr>
      <vt:lpstr>苹方-简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HarmonyOS Sans SC</vt:lpstr>
      <vt:lpstr>Arial Regular</vt:lpstr>
      <vt:lpstr>helvetica neue</vt:lpstr>
      <vt:lpstr>Cochin Regular</vt:lpstr>
      <vt:lpstr>Times New Roman Regular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Snowden to Big Data</dc:title>
  <dc:creator>hytan</dc:creator>
  <cp:lastModifiedBy>AKA_Pie.D.star阿响</cp:lastModifiedBy>
  <cp:revision>9738</cp:revision>
  <cp:lastPrinted>2026-04-27T03:43:12Z</cp:lastPrinted>
  <dcterms:created xsi:type="dcterms:W3CDTF">2026-04-27T03:43:12Z</dcterms:created>
  <dcterms:modified xsi:type="dcterms:W3CDTF">2026-04-27T03:43:12Z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9E3C20BEF688525AE257EE6941D6AA48_43</vt:lpwstr>
  </property>
</Properties>
</file>